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notesMasterIdLst>
    <p:notesMasterId r:id="rId12"/>
  </p:notesMasterIdLst>
  <p:sldIdLst>
    <p:sldId id="256" r:id="rId2"/>
    <p:sldId id="264" r:id="rId3"/>
    <p:sldId id="265" r:id="rId4"/>
    <p:sldId id="257" r:id="rId5"/>
    <p:sldId id="258" r:id="rId6"/>
    <p:sldId id="259" r:id="rId7"/>
    <p:sldId id="260" r:id="rId8"/>
    <p:sldId id="262" r:id="rId9"/>
    <p:sldId id="263"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487" autoAdjust="0"/>
  </p:normalViewPr>
  <p:slideViewPr>
    <p:cSldViewPr snapToGrid="0">
      <p:cViewPr varScale="1">
        <p:scale>
          <a:sx n="68" d="100"/>
          <a:sy n="68" d="100"/>
        </p:scale>
        <p:origin x="1262" y="62"/>
      </p:cViewPr>
      <p:guideLst/>
    </p:cSldViewPr>
  </p:slideViewPr>
  <p:notesTextViewPr>
    <p:cViewPr>
      <p:scale>
        <a:sx n="1" d="1"/>
        <a:sy n="1" d="1"/>
      </p:scale>
      <p:origin x="0" y="0"/>
    </p:cViewPr>
  </p:notesTextViewPr>
  <p:notesViewPr>
    <p:cSldViewPr snapToGrid="0">
      <p:cViewPr varScale="1">
        <p:scale>
          <a:sx n="51" d="100"/>
          <a:sy n="51" d="100"/>
        </p:scale>
        <p:origin x="2692" y="2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7F084F-3B5D-4721-A127-2BE83377A906}" type="doc">
      <dgm:prSet loTypeId="urn:microsoft.com/office/officeart/2005/8/layout/vList2" loCatId="list" qsTypeId="urn:microsoft.com/office/officeart/2005/8/quickstyle/simple1" qsCatId="simple" csTypeId="urn:microsoft.com/office/officeart/2005/8/colors/accent5_2" csCatId="accent5"/>
      <dgm:spPr/>
      <dgm:t>
        <a:bodyPr/>
        <a:lstStyle/>
        <a:p>
          <a:endParaRPr lang="en-US"/>
        </a:p>
      </dgm:t>
    </dgm:pt>
    <dgm:pt modelId="{B3D979FC-CE9F-4566-8913-DC86191BF941}">
      <dgm:prSet/>
      <dgm:spPr/>
      <dgm:t>
        <a:bodyPr/>
        <a:lstStyle/>
        <a:p>
          <a:r>
            <a:rPr lang="en-US"/>
            <a:t>On my personal laptop I installed Hive. All the data was downloaded using WSL command line wget and loaded into Hive db.</a:t>
          </a:r>
        </a:p>
      </dgm:t>
    </dgm:pt>
    <dgm:pt modelId="{F0B72C92-CE39-4C55-B138-E40A01D9F9B3}" type="parTrans" cxnId="{DAF238DD-01C2-40E3-BC08-11308B48BBAF}">
      <dgm:prSet/>
      <dgm:spPr/>
      <dgm:t>
        <a:bodyPr/>
        <a:lstStyle/>
        <a:p>
          <a:endParaRPr lang="en-US"/>
        </a:p>
      </dgm:t>
    </dgm:pt>
    <dgm:pt modelId="{4D343A0A-E2C5-4AFC-A270-C4A79E7D9EBC}" type="sibTrans" cxnId="{DAF238DD-01C2-40E3-BC08-11308B48BBAF}">
      <dgm:prSet/>
      <dgm:spPr/>
      <dgm:t>
        <a:bodyPr/>
        <a:lstStyle/>
        <a:p>
          <a:endParaRPr lang="en-US"/>
        </a:p>
      </dgm:t>
    </dgm:pt>
    <dgm:pt modelId="{CA8C37F0-57EB-4E1E-9848-AFEB336F644E}">
      <dgm:prSet/>
      <dgm:spPr/>
      <dgm:t>
        <a:bodyPr/>
        <a:lstStyle/>
        <a:p>
          <a:r>
            <a:rPr lang="en-US"/>
            <a:t>HQL was used to query data.</a:t>
          </a:r>
        </a:p>
      </dgm:t>
    </dgm:pt>
    <dgm:pt modelId="{C395DACC-7E5C-44CB-ACE6-54A7F3C97162}" type="parTrans" cxnId="{9D3E36E8-6630-4EF6-91F8-52B488DEC82E}">
      <dgm:prSet/>
      <dgm:spPr/>
      <dgm:t>
        <a:bodyPr/>
        <a:lstStyle/>
        <a:p>
          <a:endParaRPr lang="en-US"/>
        </a:p>
      </dgm:t>
    </dgm:pt>
    <dgm:pt modelId="{D1E71EE6-0042-45BC-ABF1-D963F77E081B}" type="sibTrans" cxnId="{9D3E36E8-6630-4EF6-91F8-52B488DEC82E}">
      <dgm:prSet/>
      <dgm:spPr/>
      <dgm:t>
        <a:bodyPr/>
        <a:lstStyle/>
        <a:p>
          <a:endParaRPr lang="en-US"/>
        </a:p>
      </dgm:t>
    </dgm:pt>
    <dgm:pt modelId="{0FDE96DC-B089-46C7-AB27-F45F517F0662}" type="pres">
      <dgm:prSet presAssocID="{BD7F084F-3B5D-4721-A127-2BE83377A906}" presName="linear" presStyleCnt="0">
        <dgm:presLayoutVars>
          <dgm:animLvl val="lvl"/>
          <dgm:resizeHandles val="exact"/>
        </dgm:presLayoutVars>
      </dgm:prSet>
      <dgm:spPr/>
    </dgm:pt>
    <dgm:pt modelId="{85F4DD58-04D9-499B-9C01-813E8C24D2DC}" type="pres">
      <dgm:prSet presAssocID="{B3D979FC-CE9F-4566-8913-DC86191BF941}" presName="parentText" presStyleLbl="node1" presStyleIdx="0" presStyleCnt="2">
        <dgm:presLayoutVars>
          <dgm:chMax val="0"/>
          <dgm:bulletEnabled val="1"/>
        </dgm:presLayoutVars>
      </dgm:prSet>
      <dgm:spPr/>
    </dgm:pt>
    <dgm:pt modelId="{2022EF9A-80DE-408A-A3D9-9AF6C911A3E8}" type="pres">
      <dgm:prSet presAssocID="{4D343A0A-E2C5-4AFC-A270-C4A79E7D9EBC}" presName="spacer" presStyleCnt="0"/>
      <dgm:spPr/>
    </dgm:pt>
    <dgm:pt modelId="{DDA273BF-C5DB-4781-90DB-ACC3D1239BD5}" type="pres">
      <dgm:prSet presAssocID="{CA8C37F0-57EB-4E1E-9848-AFEB336F644E}" presName="parentText" presStyleLbl="node1" presStyleIdx="1" presStyleCnt="2">
        <dgm:presLayoutVars>
          <dgm:chMax val="0"/>
          <dgm:bulletEnabled val="1"/>
        </dgm:presLayoutVars>
      </dgm:prSet>
      <dgm:spPr/>
    </dgm:pt>
  </dgm:ptLst>
  <dgm:cxnLst>
    <dgm:cxn modelId="{1284C87F-74F7-4031-8342-D4AF32A454D6}" type="presOf" srcId="{CA8C37F0-57EB-4E1E-9848-AFEB336F644E}" destId="{DDA273BF-C5DB-4781-90DB-ACC3D1239BD5}" srcOrd="0" destOrd="0" presId="urn:microsoft.com/office/officeart/2005/8/layout/vList2"/>
    <dgm:cxn modelId="{F0B61DBC-F1C9-4FD7-95E9-AED389F11450}" type="presOf" srcId="{B3D979FC-CE9F-4566-8913-DC86191BF941}" destId="{85F4DD58-04D9-499B-9C01-813E8C24D2DC}" srcOrd="0" destOrd="0" presId="urn:microsoft.com/office/officeart/2005/8/layout/vList2"/>
    <dgm:cxn modelId="{ADE3DACC-5A8B-4239-9C44-AB811A413799}" type="presOf" srcId="{BD7F084F-3B5D-4721-A127-2BE83377A906}" destId="{0FDE96DC-B089-46C7-AB27-F45F517F0662}" srcOrd="0" destOrd="0" presId="urn:microsoft.com/office/officeart/2005/8/layout/vList2"/>
    <dgm:cxn modelId="{DAF238DD-01C2-40E3-BC08-11308B48BBAF}" srcId="{BD7F084F-3B5D-4721-A127-2BE83377A906}" destId="{B3D979FC-CE9F-4566-8913-DC86191BF941}" srcOrd="0" destOrd="0" parTransId="{F0B72C92-CE39-4C55-B138-E40A01D9F9B3}" sibTransId="{4D343A0A-E2C5-4AFC-A270-C4A79E7D9EBC}"/>
    <dgm:cxn modelId="{9D3E36E8-6630-4EF6-91F8-52B488DEC82E}" srcId="{BD7F084F-3B5D-4721-A127-2BE83377A906}" destId="{CA8C37F0-57EB-4E1E-9848-AFEB336F644E}" srcOrd="1" destOrd="0" parTransId="{C395DACC-7E5C-44CB-ACE6-54A7F3C97162}" sibTransId="{D1E71EE6-0042-45BC-ABF1-D963F77E081B}"/>
    <dgm:cxn modelId="{51FB674C-BED2-43E7-9255-77468BCBD29C}" type="presParOf" srcId="{0FDE96DC-B089-46C7-AB27-F45F517F0662}" destId="{85F4DD58-04D9-499B-9C01-813E8C24D2DC}" srcOrd="0" destOrd="0" presId="urn:microsoft.com/office/officeart/2005/8/layout/vList2"/>
    <dgm:cxn modelId="{B85D4FC6-3BA9-40FE-B6ED-944FE73EA584}" type="presParOf" srcId="{0FDE96DC-B089-46C7-AB27-F45F517F0662}" destId="{2022EF9A-80DE-408A-A3D9-9AF6C911A3E8}" srcOrd="1" destOrd="0" presId="urn:microsoft.com/office/officeart/2005/8/layout/vList2"/>
    <dgm:cxn modelId="{584F0DF0-9530-4969-B258-52DFAC668319}" type="presParOf" srcId="{0FDE96DC-B089-46C7-AB27-F45F517F0662}" destId="{DDA273BF-C5DB-4781-90DB-ACC3D1239BD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F4DD58-04D9-499B-9C01-813E8C24D2DC}">
      <dsp:nvSpPr>
        <dsp:cNvPr id="0" name=""/>
        <dsp:cNvSpPr/>
      </dsp:nvSpPr>
      <dsp:spPr>
        <a:xfrm>
          <a:off x="0" y="422423"/>
          <a:ext cx="6263640" cy="22838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On my personal laptop I installed Hive. All the data was downloaded using WSL command line wget and loaded into Hive db.</a:t>
          </a:r>
        </a:p>
      </dsp:txBody>
      <dsp:txXfrm>
        <a:off x="111488" y="533911"/>
        <a:ext cx="6040664" cy="2060864"/>
      </dsp:txXfrm>
    </dsp:sp>
    <dsp:sp modelId="{DDA273BF-C5DB-4781-90DB-ACC3D1239BD5}">
      <dsp:nvSpPr>
        <dsp:cNvPr id="0" name=""/>
        <dsp:cNvSpPr/>
      </dsp:nvSpPr>
      <dsp:spPr>
        <a:xfrm>
          <a:off x="0" y="2798423"/>
          <a:ext cx="6263640" cy="22838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HQL was used to query data.</a:t>
          </a:r>
        </a:p>
      </dsp:txBody>
      <dsp:txXfrm>
        <a:off x="111488" y="2909911"/>
        <a:ext cx="6040664" cy="206086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9A8EFD-9006-405A-9005-AA4B0D8B497D}" type="datetimeFigureOut">
              <a:rPr lang="en-US" smtClean="0"/>
              <a:t>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4AB190-8E8F-4A0C-BAF0-E2D1C8FBBCD6}" type="slidenum">
              <a:rPr lang="en-US" smtClean="0"/>
              <a:t>‹#›</a:t>
            </a:fld>
            <a:endParaRPr lang="en-US"/>
          </a:p>
        </p:txBody>
      </p:sp>
    </p:spTree>
    <p:extLst>
      <p:ext uri="{BB962C8B-B14F-4D97-AF65-F5344CB8AC3E}">
        <p14:creationId xmlns:p14="http://schemas.microsoft.com/office/powerpoint/2010/main" val="1404663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4AB190-8E8F-4A0C-BAF0-E2D1C8FBBCD6}" type="slidenum">
              <a:rPr lang="en-US" smtClean="0"/>
              <a:t>1</a:t>
            </a:fld>
            <a:endParaRPr lang="en-US"/>
          </a:p>
        </p:txBody>
      </p:sp>
    </p:spTree>
    <p:extLst>
      <p:ext uri="{BB962C8B-B14F-4D97-AF65-F5344CB8AC3E}">
        <p14:creationId xmlns:p14="http://schemas.microsoft.com/office/powerpoint/2010/main" val="577917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4AB190-8E8F-4A0C-BAF0-E2D1C8FBBCD6}" type="slidenum">
              <a:rPr lang="en-US" smtClean="0"/>
              <a:t>4</a:t>
            </a:fld>
            <a:endParaRPr lang="en-US"/>
          </a:p>
        </p:txBody>
      </p:sp>
    </p:spTree>
    <p:extLst>
      <p:ext uri="{BB962C8B-B14F-4D97-AF65-F5344CB8AC3E}">
        <p14:creationId xmlns:p14="http://schemas.microsoft.com/office/powerpoint/2010/main" val="968819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first created a table for click stream. It contains top 100 referrer pages in wiki. This is </a:t>
            </a:r>
            <a:r>
              <a:rPr lang="en-US" dirty="0" err="1"/>
              <a:t>numberator</a:t>
            </a:r>
            <a:r>
              <a:rPr lang="en-US" dirty="0"/>
              <a:t>. The denominator is the pageview data. The ratio will give the top retainer pages in wiki. My pageview data is for </a:t>
            </a:r>
            <a:r>
              <a:rPr lang="en-US" dirty="0" err="1"/>
              <a:t>jan</a:t>
            </a:r>
            <a:r>
              <a:rPr lang="en-US" dirty="0"/>
              <a:t> 20. Click stream data is Dec 2020. Hence data is skewed. Once correct data is loaded, it will show accurate results.</a:t>
            </a:r>
          </a:p>
          <a:p>
            <a:endParaRPr lang="en-US" dirty="0"/>
          </a:p>
        </p:txBody>
      </p:sp>
      <p:sp>
        <p:nvSpPr>
          <p:cNvPr id="4" name="Slide Number Placeholder 3"/>
          <p:cNvSpPr>
            <a:spLocks noGrp="1"/>
          </p:cNvSpPr>
          <p:nvPr>
            <p:ph type="sldNum" sz="quarter" idx="5"/>
          </p:nvPr>
        </p:nvSpPr>
        <p:spPr/>
        <p:txBody>
          <a:bodyPr/>
          <a:lstStyle/>
          <a:p>
            <a:fld id="{8F4AB190-8E8F-4A0C-BAF0-E2D1C8FBBCD6}" type="slidenum">
              <a:rPr lang="en-US" smtClean="0"/>
              <a:t>5</a:t>
            </a:fld>
            <a:endParaRPr lang="en-US"/>
          </a:p>
        </p:txBody>
      </p:sp>
    </p:spTree>
    <p:extLst>
      <p:ext uri="{BB962C8B-B14F-4D97-AF65-F5344CB8AC3E}">
        <p14:creationId xmlns:p14="http://schemas.microsoft.com/office/powerpoint/2010/main" val="2275270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similar to previous question. The additional part is that the click stream table contains top 100 pages that were referred by </a:t>
            </a:r>
            <a:r>
              <a:rPr lang="en-US" dirty="0" err="1"/>
              <a:t>Hotel_California</a:t>
            </a:r>
            <a:r>
              <a:rPr lang="en-US" dirty="0"/>
              <a:t> page. Since my page view data is not loaded fully, this shows the top referrer page from Hotel California Page only.</a:t>
            </a:r>
          </a:p>
        </p:txBody>
      </p:sp>
      <p:sp>
        <p:nvSpPr>
          <p:cNvPr id="4" name="Slide Number Placeholder 3"/>
          <p:cNvSpPr>
            <a:spLocks noGrp="1"/>
          </p:cNvSpPr>
          <p:nvPr>
            <p:ph type="sldNum" sz="quarter" idx="5"/>
          </p:nvPr>
        </p:nvSpPr>
        <p:spPr/>
        <p:txBody>
          <a:bodyPr/>
          <a:lstStyle/>
          <a:p>
            <a:fld id="{8F4AB190-8E8F-4A0C-BAF0-E2D1C8FBBCD6}" type="slidenum">
              <a:rPr lang="en-US" smtClean="0"/>
              <a:t>6</a:t>
            </a:fld>
            <a:endParaRPr lang="en-US"/>
          </a:p>
        </p:txBody>
      </p:sp>
    </p:spTree>
    <p:extLst>
      <p:ext uri="{BB962C8B-B14F-4D97-AF65-F5344CB8AC3E}">
        <p14:creationId xmlns:p14="http://schemas.microsoft.com/office/powerpoint/2010/main" val="2005018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the page view data on Jan 20, 2021 into two tables. Americans table for hours 9Am to 6 PM, remaining time Non-Americans. Query is same as Q1 query</a:t>
            </a:r>
          </a:p>
        </p:txBody>
      </p:sp>
      <p:sp>
        <p:nvSpPr>
          <p:cNvPr id="4" name="Slide Number Placeholder 3"/>
          <p:cNvSpPr>
            <a:spLocks noGrp="1"/>
          </p:cNvSpPr>
          <p:nvPr>
            <p:ph type="sldNum" sz="quarter" idx="5"/>
          </p:nvPr>
        </p:nvSpPr>
        <p:spPr/>
        <p:txBody>
          <a:bodyPr/>
          <a:lstStyle/>
          <a:p>
            <a:fld id="{8F4AB190-8E8F-4A0C-BAF0-E2D1C8FBBCD6}" type="slidenum">
              <a:rPr lang="en-US" smtClean="0"/>
              <a:t>7</a:t>
            </a:fld>
            <a:endParaRPr lang="en-US"/>
          </a:p>
        </p:txBody>
      </p:sp>
    </p:spTree>
    <p:extLst>
      <p:ext uri="{BB962C8B-B14F-4D97-AF65-F5344CB8AC3E}">
        <p14:creationId xmlns:p14="http://schemas.microsoft.com/office/powerpoint/2010/main" val="861997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loaded Wiki media data  for </a:t>
            </a:r>
            <a:r>
              <a:rPr lang="en-US" dirty="0" err="1"/>
              <a:t>jan</a:t>
            </a:r>
            <a:r>
              <a:rPr lang="en-US" dirty="0"/>
              <a:t> 1, 20201 into table. Filtered the rows for comments like ‘%vandal%’ sorted the results by seconds it took to fix. Top page took 13 years to get fixed. </a:t>
            </a:r>
          </a:p>
        </p:txBody>
      </p:sp>
      <p:sp>
        <p:nvSpPr>
          <p:cNvPr id="4" name="Slide Number Placeholder 3"/>
          <p:cNvSpPr>
            <a:spLocks noGrp="1"/>
          </p:cNvSpPr>
          <p:nvPr>
            <p:ph type="sldNum" sz="quarter" idx="5"/>
          </p:nvPr>
        </p:nvSpPr>
        <p:spPr/>
        <p:txBody>
          <a:bodyPr/>
          <a:lstStyle/>
          <a:p>
            <a:fld id="{8F4AB190-8E8F-4A0C-BAF0-E2D1C8FBBCD6}" type="slidenum">
              <a:rPr lang="en-US" smtClean="0"/>
              <a:t>8</a:t>
            </a:fld>
            <a:endParaRPr lang="en-US"/>
          </a:p>
        </p:txBody>
      </p:sp>
    </p:spTree>
    <p:extLst>
      <p:ext uri="{BB962C8B-B14F-4D97-AF65-F5344CB8AC3E}">
        <p14:creationId xmlns:p14="http://schemas.microsoft.com/office/powerpoint/2010/main" val="1620832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8A27F-605E-4BC4-92EF-CCADDD7C7E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6F1D9D-FE84-4D52-B5C4-557BFE3C80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B2E939-934B-4CA9-B995-097640ACC5B9}"/>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5" name="Footer Placeholder 4">
            <a:extLst>
              <a:ext uri="{FF2B5EF4-FFF2-40B4-BE49-F238E27FC236}">
                <a16:creationId xmlns:a16="http://schemas.microsoft.com/office/drawing/2014/main" id="{0EDAF1FE-F808-4462-BAC6-F41FFC0AB2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28C6BA-B95B-41C1-9A20-84F72F8BF7E0}"/>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1611352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505C7-EBB1-4618-BEA6-7E50EFE750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017C36-C053-41AB-BCFC-56F309E210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C8AD45-31AF-4051-BEEA-3D6BF63056CB}"/>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5" name="Footer Placeholder 4">
            <a:extLst>
              <a:ext uri="{FF2B5EF4-FFF2-40B4-BE49-F238E27FC236}">
                <a16:creationId xmlns:a16="http://schemas.microsoft.com/office/drawing/2014/main" id="{503FF138-E67F-418D-A37F-B124454EBA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503B9-C9C6-4D04-9531-C0D97A204351}"/>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1476725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2C6E2-BBDB-4693-A392-31EFFE89E3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F6E43F-4746-4303-ADD4-2105272791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3DF6C6-20C1-4D19-9F7F-A82EAE128A2B}"/>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5" name="Footer Placeholder 4">
            <a:extLst>
              <a:ext uri="{FF2B5EF4-FFF2-40B4-BE49-F238E27FC236}">
                <a16:creationId xmlns:a16="http://schemas.microsoft.com/office/drawing/2014/main" id="{1A9BE6F4-A73C-4CDD-A053-4BB335A567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393C5E-8DB8-454C-AD11-C902CED717C1}"/>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999997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87940-97C0-4F8E-8936-35362BEECE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E994E2-14E1-4970-8CC0-F9ABDC408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D0256F-E435-4BB9-B77A-BB5A3BC69D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743188-4C61-4D5E-BBD8-E6E714B2BDE9}"/>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6" name="Footer Placeholder 5">
            <a:extLst>
              <a:ext uri="{FF2B5EF4-FFF2-40B4-BE49-F238E27FC236}">
                <a16:creationId xmlns:a16="http://schemas.microsoft.com/office/drawing/2014/main" id="{CAE5E18D-5AD8-4FAE-9F79-AF5E4CDD27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87EBDF-3FCC-465D-8114-75AC1ED8DC6D}"/>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2846977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A5DCF-DA3E-4AB2-9526-7C5F812849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2D617D-A49E-4E92-9876-BC1D5E9698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8F0EC8-6C0B-4F0A-82B6-5408676479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F83F97-9F37-49BE-879F-182E2A5713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6B9849-D97B-42EB-8110-780DFC6AB2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7DFCE9-4B66-44C2-A75F-46A6906BE913}"/>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8" name="Footer Placeholder 7">
            <a:extLst>
              <a:ext uri="{FF2B5EF4-FFF2-40B4-BE49-F238E27FC236}">
                <a16:creationId xmlns:a16="http://schemas.microsoft.com/office/drawing/2014/main" id="{A23A167E-AD12-4FB4-A355-A13F533948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ABB4C4-FE87-4461-84A1-A262F14FB3CB}"/>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2986426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D283-0EB7-4B6D-BA00-EE44FA112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45AD64-2782-4644-90E4-CBFE873D552C}"/>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4" name="Footer Placeholder 3">
            <a:extLst>
              <a:ext uri="{FF2B5EF4-FFF2-40B4-BE49-F238E27FC236}">
                <a16:creationId xmlns:a16="http://schemas.microsoft.com/office/drawing/2014/main" id="{BB493DF8-E5CD-4AF3-911E-055D1846EB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9817A6-16E8-4629-B1CA-968A49969BCD}"/>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1995309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822484-E313-4996-B890-8D48D82CB33E}"/>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3" name="Footer Placeholder 2">
            <a:extLst>
              <a:ext uri="{FF2B5EF4-FFF2-40B4-BE49-F238E27FC236}">
                <a16:creationId xmlns:a16="http://schemas.microsoft.com/office/drawing/2014/main" id="{1D29A9C5-1492-490B-801D-98C91F3778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B9EDB-B025-4372-8F90-590ACAE8497B}"/>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350918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6365-BD27-4C8B-9778-18395CDAFD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891CB2-D377-4A16-80D3-580A8707AF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849701-5D9B-48FF-9041-6C87A4C627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FB82C5-984D-4800-9C71-93BC2130F449}"/>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6" name="Footer Placeholder 5">
            <a:extLst>
              <a:ext uri="{FF2B5EF4-FFF2-40B4-BE49-F238E27FC236}">
                <a16:creationId xmlns:a16="http://schemas.microsoft.com/office/drawing/2014/main" id="{495AF3B9-7F8A-47DA-ACC6-353D0B77FB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B90408-C595-481C-AD50-E20B7E6CD943}"/>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35937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37847-FD0F-4B1D-BB47-42876C53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4F2C3E-8ED1-4B89-BF30-BC42FA1672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D6A53E-0F10-4D26-987A-E22499983D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04E3D7-CA27-494D-A678-EF1AAFBD2782}"/>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6" name="Footer Placeholder 5">
            <a:extLst>
              <a:ext uri="{FF2B5EF4-FFF2-40B4-BE49-F238E27FC236}">
                <a16:creationId xmlns:a16="http://schemas.microsoft.com/office/drawing/2014/main" id="{4D0918B9-4923-488C-A71E-D6CC7BC0E6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54CD2-3243-4771-B8D7-4A25876993C5}"/>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512200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4F83-97FD-48E7-A9AA-673A7ABD71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77A4F4-AE4B-4476-B085-C80D98B452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0C2EA7-49C9-40D3-9EF2-495931E57C77}"/>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5" name="Footer Placeholder 4">
            <a:extLst>
              <a:ext uri="{FF2B5EF4-FFF2-40B4-BE49-F238E27FC236}">
                <a16:creationId xmlns:a16="http://schemas.microsoft.com/office/drawing/2014/main" id="{44CFFAD9-8D76-4905-B207-B5AD7482F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74A941-A3BD-4722-9CAD-2BA4F878725B}"/>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1445453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91F6CA-64A8-4107-ACE2-3B7E0341E9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BFED0F-AB1A-444F-ACED-B00041E44F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E9C198-A47D-4EB1-BA2C-E6E5D9A1CCF3}"/>
              </a:ext>
            </a:extLst>
          </p:cNvPr>
          <p:cNvSpPr>
            <a:spLocks noGrp="1"/>
          </p:cNvSpPr>
          <p:nvPr>
            <p:ph type="dt" sz="half" idx="10"/>
          </p:nvPr>
        </p:nvSpPr>
        <p:spPr/>
        <p:txBody>
          <a:bodyPr/>
          <a:lstStyle/>
          <a:p>
            <a:fld id="{66ED0871-F470-4B5E-A2D9-D48F7917BDDF}" type="datetimeFigureOut">
              <a:rPr lang="en-US" smtClean="0"/>
              <a:t>2/15/2021</a:t>
            </a:fld>
            <a:endParaRPr lang="en-US"/>
          </a:p>
        </p:txBody>
      </p:sp>
      <p:sp>
        <p:nvSpPr>
          <p:cNvPr id="5" name="Footer Placeholder 4">
            <a:extLst>
              <a:ext uri="{FF2B5EF4-FFF2-40B4-BE49-F238E27FC236}">
                <a16:creationId xmlns:a16="http://schemas.microsoft.com/office/drawing/2014/main" id="{B6B0AB50-7610-4E33-BAC7-4F1A1B91A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03605-45DC-4D5F-AC6C-E2D738CD815C}"/>
              </a:ext>
            </a:extLst>
          </p:cNvPr>
          <p:cNvSpPr>
            <a:spLocks noGrp="1"/>
          </p:cNvSpPr>
          <p:nvPr>
            <p:ph type="sldNum" sz="quarter" idx="12"/>
          </p:nvPr>
        </p:nvSpPr>
        <p:spPr/>
        <p:txBody>
          <a:bodyPr/>
          <a:lstStyle/>
          <a:p>
            <a:fld id="{C15A75B3-556E-49C3-B576-4A2BEEF694A5}" type="slidenum">
              <a:rPr lang="en-US" smtClean="0"/>
              <a:t>‹#›</a:t>
            </a:fld>
            <a:endParaRPr lang="en-US"/>
          </a:p>
        </p:txBody>
      </p:sp>
    </p:spTree>
    <p:extLst>
      <p:ext uri="{BB962C8B-B14F-4D97-AF65-F5344CB8AC3E}">
        <p14:creationId xmlns:p14="http://schemas.microsoft.com/office/powerpoint/2010/main" val="2785698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B3A38F-5227-4988-82E0-453AA549B0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8AE4BA-E29D-4EA4-A7E4-A2516BE5A9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1AEBA0-648D-4FBE-93BE-C7524C2D7F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ED0871-F470-4B5E-A2D9-D48F7917BDDF}" type="datetimeFigureOut">
              <a:rPr lang="en-US" smtClean="0"/>
              <a:t>2/15/2021</a:t>
            </a:fld>
            <a:endParaRPr lang="en-US"/>
          </a:p>
        </p:txBody>
      </p:sp>
      <p:sp>
        <p:nvSpPr>
          <p:cNvPr id="5" name="Footer Placeholder 4">
            <a:extLst>
              <a:ext uri="{FF2B5EF4-FFF2-40B4-BE49-F238E27FC236}">
                <a16:creationId xmlns:a16="http://schemas.microsoft.com/office/drawing/2014/main" id="{5BE5BC45-7062-4A97-8A87-A20FB76E8C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1FC0D48-F648-46D9-BAC7-7CCBD5F92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5A75B3-556E-49C3-B576-4A2BEEF694A5}" type="slidenum">
              <a:rPr lang="en-US" smtClean="0"/>
              <a:t>‹#›</a:t>
            </a:fld>
            <a:endParaRPr lang="en-US"/>
          </a:p>
        </p:txBody>
      </p:sp>
    </p:spTree>
    <p:extLst>
      <p:ext uri="{BB962C8B-B14F-4D97-AF65-F5344CB8AC3E}">
        <p14:creationId xmlns:p14="http://schemas.microsoft.com/office/powerpoint/2010/main" val="391655897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762857-E39E-4343-913C-9B6633B1920E}"/>
              </a:ext>
            </a:extLst>
          </p:cNvPr>
          <p:cNvSpPr>
            <a:spLocks noGrp="1"/>
          </p:cNvSpPr>
          <p:nvPr>
            <p:ph type="ctrTitle"/>
          </p:nvPr>
        </p:nvSpPr>
        <p:spPr>
          <a:xfrm>
            <a:off x="838200" y="963507"/>
            <a:ext cx="3494362" cy="4930986"/>
          </a:xfrm>
        </p:spPr>
        <p:txBody>
          <a:bodyPr vert="horz" lIns="91440" tIns="45720" rIns="91440" bIns="45720" rtlCol="0" anchor="ctr">
            <a:normAutofit/>
          </a:bodyPr>
          <a:lstStyle/>
          <a:p>
            <a:pPr algn="r"/>
            <a:r>
              <a:rPr lang="en-US" sz="4400" kern="1200">
                <a:solidFill>
                  <a:schemeClr val="accent1"/>
                </a:solidFill>
                <a:latin typeface="+mj-lt"/>
                <a:ea typeface="+mj-ea"/>
                <a:cs typeface="+mj-cs"/>
              </a:rPr>
              <a:t>English Wikipedia </a:t>
            </a:r>
          </a:p>
        </p:txBody>
      </p:sp>
      <p:cxnSp>
        <p:nvCxnSpPr>
          <p:cNvPr id="26" name="Straight Connector 25">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3BF491F6-C389-4716-8F1C-0CF4DAEE512E}"/>
              </a:ext>
            </a:extLst>
          </p:cNvPr>
          <p:cNvSpPr>
            <a:spLocks noGrp="1"/>
          </p:cNvSpPr>
          <p:nvPr>
            <p:ph type="subTitle" idx="1"/>
          </p:nvPr>
        </p:nvSpPr>
        <p:spPr>
          <a:xfrm>
            <a:off x="4976030" y="963507"/>
            <a:ext cx="6250940" cy="2304627"/>
          </a:xfrm>
        </p:spPr>
        <p:txBody>
          <a:bodyPr vert="horz" lIns="91440" tIns="45720" rIns="91440" bIns="45720" rtlCol="0" anchor="b">
            <a:normAutofit/>
          </a:bodyPr>
          <a:lstStyle/>
          <a:p>
            <a:pPr indent="-228600" algn="l">
              <a:buFont typeface="Arial" panose="020B0604020202020204" pitchFamily="34" charset="0"/>
              <a:buChar char="•"/>
            </a:pPr>
            <a:r>
              <a:rPr lang="en-US" sz="2000"/>
              <a:t>Data Analysis</a:t>
            </a:r>
          </a:p>
        </p:txBody>
      </p:sp>
      <p:sp>
        <p:nvSpPr>
          <p:cNvPr id="4" name="TextBox 3">
            <a:extLst>
              <a:ext uri="{FF2B5EF4-FFF2-40B4-BE49-F238E27FC236}">
                <a16:creationId xmlns:a16="http://schemas.microsoft.com/office/drawing/2014/main" id="{EE7E72FD-C836-416C-A310-8932C63A07A8}"/>
              </a:ext>
            </a:extLst>
          </p:cNvPr>
          <p:cNvSpPr txBox="1"/>
          <p:nvPr/>
        </p:nvSpPr>
        <p:spPr>
          <a:xfrm>
            <a:off x="4976030" y="3589866"/>
            <a:ext cx="6250940" cy="230462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a:t>Vani Hovale</a:t>
            </a:r>
          </a:p>
        </p:txBody>
      </p:sp>
    </p:spTree>
    <p:extLst>
      <p:ext uri="{BB962C8B-B14F-4D97-AF65-F5344CB8AC3E}">
        <p14:creationId xmlns:p14="http://schemas.microsoft.com/office/powerpoint/2010/main" val="3618430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CCF10325-EC3C-45C8-925E-6BA6F6B71C97}"/>
              </a:ext>
            </a:extLst>
          </p:cNvPr>
          <p:cNvSpPr>
            <a:spLocks noGrp="1"/>
          </p:cNvSpPr>
          <p:nvPr>
            <p:ph type="title"/>
          </p:nvPr>
        </p:nvSpPr>
        <p:spPr>
          <a:xfrm>
            <a:off x="958506" y="800392"/>
            <a:ext cx="10264697" cy="1212102"/>
          </a:xfrm>
        </p:spPr>
        <p:txBody>
          <a:bodyPr>
            <a:normAutofit/>
          </a:bodyPr>
          <a:lstStyle/>
          <a:p>
            <a:r>
              <a:rPr lang="en-US" sz="4000">
                <a:solidFill>
                  <a:srgbClr val="FFFFFF"/>
                </a:solidFill>
              </a:rPr>
              <a:t>Introduction</a:t>
            </a:r>
          </a:p>
        </p:txBody>
      </p:sp>
      <p:sp>
        <p:nvSpPr>
          <p:cNvPr id="3" name="Content Placeholder 2">
            <a:extLst>
              <a:ext uri="{FF2B5EF4-FFF2-40B4-BE49-F238E27FC236}">
                <a16:creationId xmlns:a16="http://schemas.microsoft.com/office/drawing/2014/main" id="{BBCE007B-5420-4761-9C6B-779F725220F9}"/>
              </a:ext>
            </a:extLst>
          </p:cNvPr>
          <p:cNvSpPr>
            <a:spLocks noGrp="1"/>
          </p:cNvSpPr>
          <p:nvPr>
            <p:ph idx="1"/>
          </p:nvPr>
        </p:nvSpPr>
        <p:spPr>
          <a:xfrm>
            <a:off x="1367624" y="2490436"/>
            <a:ext cx="9708995" cy="3567173"/>
          </a:xfrm>
        </p:spPr>
        <p:txBody>
          <a:bodyPr anchor="ctr">
            <a:normAutofit/>
          </a:bodyPr>
          <a:lstStyle/>
          <a:p>
            <a:r>
              <a:rPr lang="en-US" sz="2400" dirty="0"/>
              <a:t>Wikipedia offers rich set of data that is easily and readily available for data scientists. The data from Wiki can be used to practice the science of Big Data Analytics</a:t>
            </a:r>
          </a:p>
        </p:txBody>
      </p:sp>
    </p:spTree>
    <p:extLst>
      <p:ext uri="{BB962C8B-B14F-4D97-AF65-F5344CB8AC3E}">
        <p14:creationId xmlns:p14="http://schemas.microsoft.com/office/powerpoint/2010/main" val="1543578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 name="Rectangle 90">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DCEFB2-3838-4D24-B9C8-5CED05E6FC6C}"/>
              </a:ext>
            </a:extLst>
          </p:cNvPr>
          <p:cNvSpPr>
            <a:spLocks noGrp="1"/>
          </p:cNvSpPr>
          <p:nvPr>
            <p:ph type="title"/>
          </p:nvPr>
        </p:nvSpPr>
        <p:spPr>
          <a:xfrm>
            <a:off x="838200" y="557189"/>
            <a:ext cx="3374136" cy="5567891"/>
          </a:xfrm>
        </p:spPr>
        <p:txBody>
          <a:bodyPr>
            <a:normAutofit/>
          </a:bodyPr>
          <a:lstStyle/>
          <a:p>
            <a:r>
              <a:rPr lang="en-US" sz="5200"/>
              <a:t>Technology Used</a:t>
            </a:r>
          </a:p>
        </p:txBody>
      </p:sp>
      <p:graphicFrame>
        <p:nvGraphicFramePr>
          <p:cNvPr id="81" name="Content Placeholder 2">
            <a:extLst>
              <a:ext uri="{FF2B5EF4-FFF2-40B4-BE49-F238E27FC236}">
                <a16:creationId xmlns:a16="http://schemas.microsoft.com/office/drawing/2014/main" id="{6C1D24FD-DBA1-4F92-B46B-1C8EA11B6EF4}"/>
              </a:ext>
            </a:extLst>
          </p:cNvPr>
          <p:cNvGraphicFramePr>
            <a:graphicFrameLocks noGrp="1"/>
          </p:cNvGraphicFramePr>
          <p:nvPr>
            <p:ph idx="1"/>
            <p:extLst>
              <p:ext uri="{D42A27DB-BD31-4B8C-83A1-F6EECF244321}">
                <p14:modId xmlns:p14="http://schemas.microsoft.com/office/powerpoint/2010/main" val="209376696"/>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1515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11">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13">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31"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Rectangle 18">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60193E5D-EE31-490B-844A-092AFFC612CE}"/>
              </a:ext>
            </a:extLst>
          </p:cNvPr>
          <p:cNvSpPr>
            <a:spLocks noGrp="1"/>
          </p:cNvSpPr>
          <p:nvPr>
            <p:ph type="title"/>
          </p:nvPr>
        </p:nvSpPr>
        <p:spPr>
          <a:xfrm>
            <a:off x="1047280" y="759805"/>
            <a:ext cx="10306520" cy="1325563"/>
          </a:xfrm>
        </p:spPr>
        <p:txBody>
          <a:bodyPr>
            <a:normAutofit/>
          </a:bodyPr>
          <a:lstStyle/>
          <a:p>
            <a:r>
              <a:rPr lang="en-US" sz="4000" dirty="0">
                <a:solidFill>
                  <a:srgbClr val="FFFFFF"/>
                </a:solidFill>
              </a:rPr>
              <a:t> Q1.Which English </a:t>
            </a:r>
            <a:r>
              <a:rPr lang="en-US" sz="4000" dirty="0" err="1">
                <a:solidFill>
                  <a:srgbClr val="FFFFFF"/>
                </a:solidFill>
              </a:rPr>
              <a:t>wikipedia</a:t>
            </a:r>
            <a:r>
              <a:rPr lang="en-US" sz="4000" dirty="0">
                <a:solidFill>
                  <a:srgbClr val="FFFFFF"/>
                </a:solidFill>
              </a:rPr>
              <a:t> article got the most traffic on January 20, 2021?</a:t>
            </a:r>
          </a:p>
        </p:txBody>
      </p:sp>
      <p:sp>
        <p:nvSpPr>
          <p:cNvPr id="3" name="Content Placeholder 2">
            <a:extLst>
              <a:ext uri="{FF2B5EF4-FFF2-40B4-BE49-F238E27FC236}">
                <a16:creationId xmlns:a16="http://schemas.microsoft.com/office/drawing/2014/main" id="{DC2CDC9F-3889-479A-911A-86BCE04AB209}"/>
              </a:ext>
            </a:extLst>
          </p:cNvPr>
          <p:cNvSpPr>
            <a:spLocks noGrp="1"/>
          </p:cNvSpPr>
          <p:nvPr>
            <p:ph idx="1"/>
          </p:nvPr>
        </p:nvSpPr>
        <p:spPr>
          <a:xfrm>
            <a:off x="1424904" y="2494450"/>
            <a:ext cx="4053545" cy="3563159"/>
          </a:xfrm>
        </p:spPr>
        <p:txBody>
          <a:bodyPr>
            <a:normAutofit/>
          </a:bodyPr>
          <a:lstStyle/>
          <a:p>
            <a:pPr marL="0" indent="0">
              <a:buNone/>
            </a:pPr>
            <a:r>
              <a:rPr lang="en-US" sz="1900" b="1" dirty="0">
                <a:latin typeface="Consolas" panose="020B0609020204030204" pitchFamily="49" charset="0"/>
              </a:rPr>
              <a:t>Main Page with </a:t>
            </a:r>
            <a:r>
              <a:rPr lang="en-US" sz="1900" b="1" dirty="0" err="1">
                <a:latin typeface="Consolas" panose="020B0609020204030204" pitchFamily="49" charset="0"/>
              </a:rPr>
              <a:t>totalviews</a:t>
            </a:r>
            <a:r>
              <a:rPr lang="en-US" sz="1900" b="1" dirty="0">
                <a:latin typeface="Consolas" panose="020B0609020204030204" pitchFamily="49" charset="0"/>
              </a:rPr>
              <a:t> 6557430 got most traffic on Jan 20, 2021 </a:t>
            </a:r>
          </a:p>
          <a:p>
            <a:pPr marL="0" indent="0">
              <a:buNone/>
            </a:pPr>
            <a:endParaRPr lang="en-US" sz="1900" b="1" dirty="0">
              <a:latin typeface="Consolas" panose="020B0609020204030204" pitchFamily="49" charset="0"/>
            </a:endParaRPr>
          </a:p>
          <a:p>
            <a:pPr marL="0" indent="0">
              <a:buNone/>
            </a:pPr>
            <a:endParaRPr lang="en-US" sz="1900" b="1" dirty="0">
              <a:latin typeface="Consolas" panose="020B0609020204030204" pitchFamily="49" charset="0"/>
            </a:endParaRPr>
          </a:p>
          <a:p>
            <a:pPr marL="0" indent="0">
              <a:buNone/>
            </a:pPr>
            <a:endParaRPr lang="en-US" sz="1900" b="1" dirty="0">
              <a:latin typeface="Consolas" panose="020B0609020204030204" pitchFamily="49" charset="0"/>
            </a:endParaRPr>
          </a:p>
          <a:p>
            <a:pPr marL="0" indent="0">
              <a:buNone/>
            </a:pPr>
            <a:r>
              <a:rPr lang="en-US" sz="1900" b="1" dirty="0">
                <a:latin typeface="Consolas" panose="020B0609020204030204" pitchFamily="49" charset="0"/>
              </a:rPr>
              <a:t>Query Used: select page, sum(</a:t>
            </a:r>
            <a:r>
              <a:rPr lang="en-US" sz="1900" b="1" dirty="0" err="1">
                <a:latin typeface="Consolas" panose="020B0609020204030204" pitchFamily="49" charset="0"/>
              </a:rPr>
              <a:t>viewcount</a:t>
            </a:r>
            <a:r>
              <a:rPr lang="en-US" sz="1900" b="1" dirty="0">
                <a:latin typeface="Consolas" panose="020B0609020204030204" pitchFamily="49" charset="0"/>
              </a:rPr>
              <a:t>) as </a:t>
            </a:r>
            <a:r>
              <a:rPr lang="en-US" sz="1900" b="1" dirty="0" err="1">
                <a:latin typeface="Consolas" panose="020B0609020204030204" pitchFamily="49" charset="0"/>
              </a:rPr>
              <a:t>totalViews</a:t>
            </a:r>
            <a:r>
              <a:rPr lang="en-US" sz="1900" b="1" dirty="0">
                <a:latin typeface="Consolas" panose="020B0609020204030204" pitchFamily="49" charset="0"/>
              </a:rPr>
              <a:t> from pageview2 group by page order by </a:t>
            </a:r>
            <a:r>
              <a:rPr lang="en-US" sz="1900" b="1" dirty="0" err="1">
                <a:latin typeface="Consolas" panose="020B0609020204030204" pitchFamily="49" charset="0"/>
              </a:rPr>
              <a:t>totalViews</a:t>
            </a:r>
            <a:r>
              <a:rPr lang="en-US" sz="1900" b="1" dirty="0">
                <a:latin typeface="Consolas" panose="020B0609020204030204" pitchFamily="49" charset="0"/>
              </a:rPr>
              <a:t> desc limit 10;</a:t>
            </a:r>
          </a:p>
          <a:p>
            <a:pPr marL="0" indent="0">
              <a:buNone/>
            </a:pPr>
            <a:endParaRPr lang="en-US" sz="1900" dirty="0"/>
          </a:p>
        </p:txBody>
      </p:sp>
      <p:pic>
        <p:nvPicPr>
          <p:cNvPr id="7" name="Picture 6">
            <a:extLst>
              <a:ext uri="{FF2B5EF4-FFF2-40B4-BE49-F238E27FC236}">
                <a16:creationId xmlns:a16="http://schemas.microsoft.com/office/drawing/2014/main" id="{FD7D3AE2-F480-492B-AA75-07EF510B8358}"/>
              </a:ext>
            </a:extLst>
          </p:cNvPr>
          <p:cNvPicPr>
            <a:picLocks noChangeAspect="1"/>
          </p:cNvPicPr>
          <p:nvPr/>
        </p:nvPicPr>
        <p:blipFill rotWithShape="1">
          <a:blip r:embed="rId3"/>
          <a:srcRect l="3895" r="17168" b="1"/>
          <a:stretch/>
        </p:blipFill>
        <p:spPr>
          <a:xfrm>
            <a:off x="6098892" y="2492376"/>
            <a:ext cx="4802404" cy="3563372"/>
          </a:xfrm>
          <a:prstGeom prst="rect">
            <a:avLst/>
          </a:prstGeom>
        </p:spPr>
      </p:pic>
    </p:spTree>
    <p:extLst>
      <p:ext uri="{BB962C8B-B14F-4D97-AF65-F5344CB8AC3E}">
        <p14:creationId xmlns:p14="http://schemas.microsoft.com/office/powerpoint/2010/main" val="2516973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8" y="450221"/>
            <a:ext cx="4402377" cy="3918123"/>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E866E9-1BEB-4340-9457-59B40E96C644}"/>
              </a:ext>
            </a:extLst>
          </p:cNvPr>
          <p:cNvSpPr>
            <a:spLocks noGrp="1"/>
          </p:cNvSpPr>
          <p:nvPr>
            <p:ph type="title"/>
          </p:nvPr>
        </p:nvSpPr>
        <p:spPr>
          <a:xfrm>
            <a:off x="788466" y="780655"/>
            <a:ext cx="3751662" cy="3261168"/>
          </a:xfrm>
        </p:spPr>
        <p:txBody>
          <a:bodyPr>
            <a:normAutofit/>
          </a:bodyPr>
          <a:lstStyle/>
          <a:p>
            <a:r>
              <a:rPr lang="en-US" sz="3100" dirty="0">
                <a:solidFill>
                  <a:srgbClr val="FFFFFF"/>
                </a:solidFill>
              </a:rPr>
              <a:t>Q2.What English </a:t>
            </a:r>
            <a:r>
              <a:rPr lang="en-US" sz="3100" dirty="0" err="1">
                <a:solidFill>
                  <a:srgbClr val="FFFFFF"/>
                </a:solidFill>
              </a:rPr>
              <a:t>wikipedia</a:t>
            </a:r>
            <a:r>
              <a:rPr lang="en-US" sz="3100" dirty="0">
                <a:solidFill>
                  <a:srgbClr val="FFFFFF"/>
                </a:solidFill>
              </a:rPr>
              <a:t> article has the largest fraction of its readers follow an internal link to another </a:t>
            </a:r>
            <a:r>
              <a:rPr lang="en-US" sz="3100" dirty="0" err="1">
                <a:solidFill>
                  <a:srgbClr val="FFFFFF"/>
                </a:solidFill>
              </a:rPr>
              <a:t>wikipedia</a:t>
            </a:r>
            <a:r>
              <a:rPr lang="en-US" sz="3100" dirty="0">
                <a:solidFill>
                  <a:srgbClr val="FFFFFF"/>
                </a:solidFill>
              </a:rPr>
              <a:t> article?</a:t>
            </a:r>
          </a:p>
        </p:txBody>
      </p:sp>
      <p:sp>
        <p:nvSpPr>
          <p:cNvPr id="74" name="Rectangle 73">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8376" y="458922"/>
            <a:ext cx="2138070" cy="1877811"/>
          </a:xfrm>
          <a:prstGeom prst="rect">
            <a:avLst/>
          </a:prstGeom>
          <a:solidFill>
            <a:srgbClr val="4B595C"/>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8377" y="2469002"/>
            <a:ext cx="2146028" cy="1898903"/>
          </a:xfrm>
          <a:prstGeom prst="rect">
            <a:avLst/>
          </a:prstGeom>
          <a:solidFill>
            <a:srgbClr val="72B1C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2AD8475C-CAD4-4989-8D5F-8BF55B7EA680}"/>
              </a:ext>
            </a:extLst>
          </p:cNvPr>
          <p:cNvPicPr>
            <a:picLocks noChangeAspect="1"/>
          </p:cNvPicPr>
          <p:nvPr/>
        </p:nvPicPr>
        <p:blipFill rotWithShape="1">
          <a:blip r:embed="rId3"/>
          <a:srcRect t="6151"/>
          <a:stretch/>
        </p:blipFill>
        <p:spPr>
          <a:xfrm>
            <a:off x="458920" y="4758894"/>
            <a:ext cx="6675119" cy="1393859"/>
          </a:xfrm>
          <a:prstGeom prst="rect">
            <a:avLst/>
          </a:prstGeom>
        </p:spPr>
      </p:pic>
      <p:sp>
        <p:nvSpPr>
          <p:cNvPr id="78" name="Rectangle 77">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1418" y="450221"/>
            <a:ext cx="4421661" cy="5948858"/>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Calibri" panose="020F0502020204030204"/>
              <a:ea typeface="+mn-ea"/>
              <a:cs typeface="+mn-cs"/>
            </a:endParaRPr>
          </a:p>
        </p:txBody>
      </p:sp>
      <p:sp>
        <p:nvSpPr>
          <p:cNvPr id="39" name="Content Placeholder 5">
            <a:extLst>
              <a:ext uri="{FF2B5EF4-FFF2-40B4-BE49-F238E27FC236}">
                <a16:creationId xmlns:a16="http://schemas.microsoft.com/office/drawing/2014/main" id="{7F35D11E-BD73-4D5A-8B6F-F6A184B6E1BF}"/>
              </a:ext>
            </a:extLst>
          </p:cNvPr>
          <p:cNvSpPr>
            <a:spLocks noGrp="1"/>
          </p:cNvSpPr>
          <p:nvPr>
            <p:ph idx="1"/>
          </p:nvPr>
        </p:nvSpPr>
        <p:spPr>
          <a:xfrm>
            <a:off x="7761639" y="900442"/>
            <a:ext cx="3514088" cy="5048417"/>
          </a:xfrm>
        </p:spPr>
        <p:txBody>
          <a:bodyPr anchor="ctr">
            <a:normAutofit/>
          </a:bodyPr>
          <a:lstStyle/>
          <a:p>
            <a:r>
              <a:rPr lang="en-US" sz="1500"/>
              <a:t>create table clickstreamPrevCountSum ( prev string, totalCount int);</a:t>
            </a:r>
          </a:p>
          <a:p>
            <a:r>
              <a:rPr lang="en-US" sz="1500"/>
              <a:t>insert into clickstreamPrevCountSum (select prev, sum(count) as c from </a:t>
            </a:r>
            <a:r>
              <a:rPr lang="en-US" sz="1500">
                <a:highlight>
                  <a:srgbClr val="C0C0C0"/>
                </a:highlight>
              </a:rPr>
              <a:t>clickstream</a:t>
            </a:r>
            <a:r>
              <a:rPr lang="en-US" sz="1500"/>
              <a:t> where type='link'  group by prev order by c desc limit 100);</a:t>
            </a:r>
          </a:p>
          <a:p>
            <a:endParaRPr lang="en-US" sz="1500">
              <a:highlight>
                <a:srgbClr val="C0C0C0"/>
              </a:highlight>
            </a:endParaRPr>
          </a:p>
          <a:p>
            <a:r>
              <a:rPr lang="en-US" sz="1500"/>
              <a:t>create table pageviewPageCountSum ( page string, totalCount int);</a:t>
            </a:r>
          </a:p>
          <a:p>
            <a:r>
              <a:rPr lang="en-US" sz="1500"/>
              <a:t>insert into pageviewPageCountSum  (select page, sum(viewCount) as c from </a:t>
            </a:r>
            <a:r>
              <a:rPr lang="en-US" sz="1500">
                <a:highlight>
                  <a:srgbClr val="C0C0C0"/>
                </a:highlight>
              </a:rPr>
              <a:t>pageview2</a:t>
            </a:r>
            <a:r>
              <a:rPr lang="en-US" sz="1500"/>
              <a:t> group by page order by c desc limit 100);</a:t>
            </a:r>
          </a:p>
          <a:p>
            <a:endParaRPr lang="en-US" sz="1500"/>
          </a:p>
          <a:p>
            <a:r>
              <a:rPr lang="en-US" sz="1500"/>
              <a:t>select p.page, p.totalCount , c.totalCount, c.totalCount/p.totalCount * 100  from pageviewPageCountSum  p inner join clickstreamPrevCountSum c on p.page=c.prev</a:t>
            </a:r>
          </a:p>
        </p:txBody>
      </p:sp>
      <p:sp>
        <p:nvSpPr>
          <p:cNvPr id="23" name="TextBox 22">
            <a:extLst>
              <a:ext uri="{FF2B5EF4-FFF2-40B4-BE49-F238E27FC236}">
                <a16:creationId xmlns:a16="http://schemas.microsoft.com/office/drawing/2014/main" id="{DBE035DB-1D2D-4E26-B60A-64A1269B1CEE}"/>
              </a:ext>
            </a:extLst>
          </p:cNvPr>
          <p:cNvSpPr txBox="1"/>
          <p:nvPr/>
        </p:nvSpPr>
        <p:spPr>
          <a:xfrm>
            <a:off x="5671335" y="1304818"/>
            <a:ext cx="1339021" cy="369332"/>
          </a:xfrm>
          <a:prstGeom prst="rect">
            <a:avLst/>
          </a:prstGeom>
          <a:noFill/>
        </p:spPr>
        <p:txBody>
          <a:bodyPr wrap="none" rtlCol="0">
            <a:spAutoFit/>
          </a:bodyPr>
          <a:lstStyle/>
          <a:p>
            <a:r>
              <a:rPr lang="en-US" dirty="0" err="1">
                <a:solidFill>
                  <a:schemeClr val="bg1"/>
                </a:solidFill>
              </a:rPr>
              <a:t>ClickStream</a:t>
            </a:r>
            <a:r>
              <a:rPr lang="en-US" dirty="0">
                <a:solidFill>
                  <a:schemeClr val="bg1"/>
                </a:solidFill>
              </a:rPr>
              <a:t> </a:t>
            </a:r>
          </a:p>
        </p:txBody>
      </p:sp>
      <p:sp>
        <p:nvSpPr>
          <p:cNvPr id="31" name="TextBox 30">
            <a:extLst>
              <a:ext uri="{FF2B5EF4-FFF2-40B4-BE49-F238E27FC236}">
                <a16:creationId xmlns:a16="http://schemas.microsoft.com/office/drawing/2014/main" id="{32C1D951-4E2F-43A1-827D-4596D0B71A1D}"/>
              </a:ext>
            </a:extLst>
          </p:cNvPr>
          <p:cNvSpPr txBox="1"/>
          <p:nvPr/>
        </p:nvSpPr>
        <p:spPr>
          <a:xfrm>
            <a:off x="5578867" y="3277456"/>
            <a:ext cx="1095172" cy="369332"/>
          </a:xfrm>
          <a:prstGeom prst="rect">
            <a:avLst/>
          </a:prstGeom>
          <a:noFill/>
        </p:spPr>
        <p:txBody>
          <a:bodyPr wrap="none" rtlCol="0">
            <a:spAutoFit/>
          </a:bodyPr>
          <a:lstStyle/>
          <a:p>
            <a:r>
              <a:rPr lang="en-US" dirty="0" err="1"/>
              <a:t>PageView</a:t>
            </a:r>
            <a:endParaRPr lang="en-US" dirty="0"/>
          </a:p>
        </p:txBody>
      </p:sp>
    </p:spTree>
    <p:extLst>
      <p:ext uri="{BB962C8B-B14F-4D97-AF65-F5344CB8AC3E}">
        <p14:creationId xmlns:p14="http://schemas.microsoft.com/office/powerpoint/2010/main" val="3526132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4">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8" y="450222"/>
            <a:ext cx="6711020" cy="2781866"/>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08639E50-8320-4E72-903B-66F6E1B2E897}"/>
              </a:ext>
            </a:extLst>
          </p:cNvPr>
          <p:cNvSpPr>
            <a:spLocks noGrp="1"/>
          </p:cNvSpPr>
          <p:nvPr>
            <p:ph type="title"/>
          </p:nvPr>
        </p:nvSpPr>
        <p:spPr>
          <a:xfrm>
            <a:off x="774698" y="761999"/>
            <a:ext cx="6108725" cy="2633973"/>
          </a:xfrm>
        </p:spPr>
        <p:txBody>
          <a:bodyPr vert="horz" lIns="91440" tIns="45720" rIns="91440" bIns="45720" rtlCol="0" anchor="ctr">
            <a:normAutofit/>
          </a:bodyPr>
          <a:lstStyle/>
          <a:p>
            <a:r>
              <a:rPr lang="en-US" sz="2400" dirty="0">
                <a:solidFill>
                  <a:srgbClr val="FFFFFF"/>
                </a:solidFill>
              </a:rPr>
              <a:t>Q#3.What series of </a:t>
            </a:r>
            <a:r>
              <a:rPr lang="en-US" sz="2400" dirty="0" err="1">
                <a:solidFill>
                  <a:srgbClr val="FFFFFF"/>
                </a:solidFill>
              </a:rPr>
              <a:t>wikipedia</a:t>
            </a:r>
            <a:r>
              <a:rPr lang="en-US" sz="2400" dirty="0">
                <a:solidFill>
                  <a:srgbClr val="FFFFFF"/>
                </a:solidFill>
              </a:rPr>
              <a:t> articles, starting with</a:t>
            </a:r>
            <a:br>
              <a:rPr lang="en-US" sz="2400" dirty="0">
                <a:solidFill>
                  <a:srgbClr val="FFFFFF"/>
                </a:solidFill>
              </a:rPr>
            </a:br>
            <a:r>
              <a:rPr lang="en-US" sz="2400" dirty="0">
                <a:solidFill>
                  <a:srgbClr val="FFFFFF"/>
                </a:solidFill>
              </a:rPr>
              <a:t> [Hotel California](https://en.wikipedia.org/wiki/Hotel_California), keeps the largest fraction of its readers clicking on internal links? </a:t>
            </a:r>
            <a:br>
              <a:rPr lang="en-US" sz="2400" dirty="0">
                <a:solidFill>
                  <a:srgbClr val="FFFFFF"/>
                </a:solidFill>
              </a:rPr>
            </a:br>
            <a:endParaRPr lang="en-US" sz="2400" dirty="0">
              <a:solidFill>
                <a:srgbClr val="FFFFFF"/>
              </a:solidFill>
            </a:endParaRPr>
          </a:p>
        </p:txBody>
      </p:sp>
      <p:sp>
        <p:nvSpPr>
          <p:cNvPr id="80" name="Rectangle 76">
            <a:extLst>
              <a:ext uri="{FF2B5EF4-FFF2-40B4-BE49-F238E27FC236}">
                <a16:creationId xmlns:a16="http://schemas.microsoft.com/office/drawing/2014/main" id="{2A8B9026-04DF-499B-A388-67FCB7435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505" y="3395972"/>
            <a:ext cx="1332806" cy="1417320"/>
          </a:xfrm>
          <a:prstGeom prst="rect">
            <a:avLst/>
          </a:prstGeom>
          <a:solidFill>
            <a:srgbClr val="53D9F9">
              <a:alpha val="95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83" name="Rectangle 78">
            <a:extLst>
              <a:ext uri="{FF2B5EF4-FFF2-40B4-BE49-F238E27FC236}">
                <a16:creationId xmlns:a16="http://schemas.microsoft.com/office/drawing/2014/main" id="{05CC4153-3F0D-4F4C-8F12-E8FC3FA40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4" y="4965191"/>
            <a:ext cx="1338257" cy="1437773"/>
          </a:xfrm>
          <a:prstGeom prst="rect">
            <a:avLst/>
          </a:prstGeom>
          <a:solidFill>
            <a:srgbClr val="4E303C"/>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84" name="Rectangle 80">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75100" y="3395974"/>
            <a:ext cx="5193903" cy="3006991"/>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B5B4504-0052-4806-9E98-940800092E4A}"/>
              </a:ext>
            </a:extLst>
          </p:cNvPr>
          <p:cNvSpPr txBox="1"/>
          <p:nvPr/>
        </p:nvSpPr>
        <p:spPr>
          <a:xfrm>
            <a:off x="2286000" y="4284324"/>
            <a:ext cx="4525347" cy="1846088"/>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dirty="0"/>
              <a:t>The Sopranos had most retention after it was referred by </a:t>
            </a:r>
            <a:r>
              <a:rPr lang="en-US" dirty="0" err="1"/>
              <a:t>Hotel_California</a:t>
            </a:r>
            <a:endParaRPr lang="en-US" dirty="0"/>
          </a:p>
        </p:txBody>
      </p:sp>
      <p:pic>
        <p:nvPicPr>
          <p:cNvPr id="7" name="Content Placeholder 6">
            <a:extLst>
              <a:ext uri="{FF2B5EF4-FFF2-40B4-BE49-F238E27FC236}">
                <a16:creationId xmlns:a16="http://schemas.microsoft.com/office/drawing/2014/main" id="{C09CE5A1-342C-4885-9657-89ED88951126}"/>
              </a:ext>
            </a:extLst>
          </p:cNvPr>
          <p:cNvPicPr>
            <a:picLocks noGrp="1" noChangeAspect="1"/>
          </p:cNvPicPr>
          <p:nvPr>
            <p:ph idx="1"/>
          </p:nvPr>
        </p:nvPicPr>
        <p:blipFill rotWithShape="1">
          <a:blip r:embed="rId3"/>
          <a:srcRect r="1" b="595"/>
          <a:stretch/>
        </p:blipFill>
        <p:spPr>
          <a:xfrm>
            <a:off x="7339089" y="450221"/>
            <a:ext cx="4371502" cy="5952744"/>
          </a:xfrm>
          <a:prstGeom prst="rect">
            <a:avLst/>
          </a:prstGeom>
        </p:spPr>
      </p:pic>
    </p:spTree>
    <p:extLst>
      <p:ext uri="{BB962C8B-B14F-4D97-AF65-F5344CB8AC3E}">
        <p14:creationId xmlns:p14="http://schemas.microsoft.com/office/powerpoint/2010/main" val="540267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08A56E-8646-4279-AC5B-516DF626D7DE}"/>
              </a:ext>
            </a:extLst>
          </p:cNvPr>
          <p:cNvSpPr>
            <a:spLocks noGrp="1"/>
          </p:cNvSpPr>
          <p:nvPr>
            <p:ph type="title"/>
          </p:nvPr>
        </p:nvSpPr>
        <p:spPr>
          <a:xfrm>
            <a:off x="699714" y="301789"/>
            <a:ext cx="10396376" cy="898581"/>
          </a:xfrm>
        </p:spPr>
        <p:txBody>
          <a:bodyPr vert="horz" lIns="91440" tIns="45720" rIns="91440" bIns="45720" rtlCol="0" anchor="ctr">
            <a:noAutofit/>
          </a:bodyPr>
          <a:lstStyle/>
          <a:p>
            <a:r>
              <a:rPr lang="en-US" sz="2400" dirty="0">
                <a:solidFill>
                  <a:srgbClr val="FFFFFF"/>
                </a:solidFill>
              </a:rPr>
              <a:t>Find an example of an English </a:t>
            </a:r>
            <a:r>
              <a:rPr lang="en-US" sz="2400" dirty="0" err="1">
                <a:solidFill>
                  <a:srgbClr val="FFFFFF"/>
                </a:solidFill>
              </a:rPr>
              <a:t>wikipedia</a:t>
            </a:r>
            <a:r>
              <a:rPr lang="en-US" sz="2400" dirty="0">
                <a:solidFill>
                  <a:srgbClr val="FFFFFF"/>
                </a:solidFill>
              </a:rPr>
              <a:t> article that is relatively more popular in the Americas than elsewhere.  There is no location data associated with the </a:t>
            </a:r>
            <a:r>
              <a:rPr lang="en-US" sz="2400" dirty="0" err="1">
                <a:solidFill>
                  <a:srgbClr val="FFFFFF"/>
                </a:solidFill>
              </a:rPr>
              <a:t>wikipedia</a:t>
            </a:r>
            <a:r>
              <a:rPr lang="en-US" sz="2400" dirty="0">
                <a:solidFill>
                  <a:srgbClr val="FFFFFF"/>
                </a:solidFill>
              </a:rPr>
              <a:t> pageviews data, but there are timestamps.  You'll need to make some assumptions about internet usage over the hours of the day</a:t>
            </a:r>
            <a:r>
              <a:rPr lang="en-US" sz="1400" dirty="0">
                <a:solidFill>
                  <a:srgbClr val="FFFFFF"/>
                </a:solidFill>
              </a:rPr>
              <a:t>.</a:t>
            </a:r>
          </a:p>
        </p:txBody>
      </p:sp>
      <p:pic>
        <p:nvPicPr>
          <p:cNvPr id="4" name="Content Placeholder 3">
            <a:extLst>
              <a:ext uri="{FF2B5EF4-FFF2-40B4-BE49-F238E27FC236}">
                <a16:creationId xmlns:a16="http://schemas.microsoft.com/office/drawing/2014/main" id="{25B480EB-871E-4445-9E8A-71C87304B8EE}"/>
              </a:ext>
            </a:extLst>
          </p:cNvPr>
          <p:cNvPicPr>
            <a:picLocks noGrp="1" noChangeAspect="1"/>
          </p:cNvPicPr>
          <p:nvPr>
            <p:ph idx="1"/>
          </p:nvPr>
        </p:nvPicPr>
        <p:blipFill>
          <a:blip r:embed="rId3"/>
          <a:stretch>
            <a:fillRect/>
          </a:stretch>
        </p:blipFill>
        <p:spPr>
          <a:xfrm>
            <a:off x="1672220" y="2181426"/>
            <a:ext cx="4174615" cy="3997637"/>
          </a:xfrm>
          <a:prstGeom prst="rect">
            <a:avLst/>
          </a:prstGeom>
        </p:spPr>
      </p:pic>
      <p:pic>
        <p:nvPicPr>
          <p:cNvPr id="7" name="Picture 6">
            <a:extLst>
              <a:ext uri="{FF2B5EF4-FFF2-40B4-BE49-F238E27FC236}">
                <a16:creationId xmlns:a16="http://schemas.microsoft.com/office/drawing/2014/main" id="{AE0550D8-77BC-4069-90AE-362D66F73DE3}"/>
              </a:ext>
            </a:extLst>
          </p:cNvPr>
          <p:cNvPicPr>
            <a:picLocks noChangeAspect="1"/>
          </p:cNvPicPr>
          <p:nvPr/>
        </p:nvPicPr>
        <p:blipFill>
          <a:blip r:embed="rId4"/>
          <a:stretch>
            <a:fillRect/>
          </a:stretch>
        </p:blipFill>
        <p:spPr>
          <a:xfrm>
            <a:off x="6345165" y="2217815"/>
            <a:ext cx="4029392" cy="3997831"/>
          </a:xfrm>
          <a:prstGeom prst="rect">
            <a:avLst/>
          </a:prstGeom>
        </p:spPr>
      </p:pic>
    </p:spTree>
    <p:extLst>
      <p:ext uri="{BB962C8B-B14F-4D97-AF65-F5344CB8AC3E}">
        <p14:creationId xmlns:p14="http://schemas.microsoft.com/office/powerpoint/2010/main" val="3516255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9"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17">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D261D526-962C-49F5-8BE3-2EF70137533E}"/>
              </a:ext>
            </a:extLst>
          </p:cNvPr>
          <p:cNvSpPr>
            <a:spLocks noGrp="1"/>
          </p:cNvSpPr>
          <p:nvPr>
            <p:ph type="title"/>
          </p:nvPr>
        </p:nvSpPr>
        <p:spPr>
          <a:xfrm>
            <a:off x="1047280" y="759805"/>
            <a:ext cx="10306520" cy="1325563"/>
          </a:xfrm>
        </p:spPr>
        <p:txBody>
          <a:bodyPr vert="horz" lIns="91440" tIns="45720" rIns="91440" bIns="45720" rtlCol="0" anchor="ctr">
            <a:normAutofit/>
          </a:bodyPr>
          <a:lstStyle/>
          <a:p>
            <a:r>
              <a:rPr lang="en-US" sz="3400" kern="1200">
                <a:solidFill>
                  <a:srgbClr val="FFFFFF"/>
                </a:solidFill>
                <a:latin typeface="+mj-lt"/>
                <a:ea typeface="+mj-ea"/>
                <a:cs typeface="+mj-cs"/>
              </a:rPr>
              <a:t>Analyze how many users will see the average vandalized wikipedia page before the offending edit is reversed.</a:t>
            </a:r>
          </a:p>
        </p:txBody>
      </p:sp>
      <p:sp>
        <p:nvSpPr>
          <p:cNvPr id="6" name="TextBox 5">
            <a:extLst>
              <a:ext uri="{FF2B5EF4-FFF2-40B4-BE49-F238E27FC236}">
                <a16:creationId xmlns:a16="http://schemas.microsoft.com/office/drawing/2014/main" id="{1286D523-C966-40B5-B6C1-E83E2CFF1E23}"/>
              </a:ext>
            </a:extLst>
          </p:cNvPr>
          <p:cNvSpPr txBox="1"/>
          <p:nvPr/>
        </p:nvSpPr>
        <p:spPr>
          <a:xfrm>
            <a:off x="1424904" y="2494450"/>
            <a:ext cx="4053545" cy="3563159"/>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a:t>Looking at the data, to find answer to this question would be hard. Morten Harket page took 13 YEARS to get fixed. This is just one day’s data (Jan 1, 2021). Finding count of pageviews for one page in 13 years will be hard.</a:t>
            </a:r>
          </a:p>
        </p:txBody>
      </p:sp>
      <p:pic>
        <p:nvPicPr>
          <p:cNvPr id="5" name="Content Placeholder 4">
            <a:extLst>
              <a:ext uri="{FF2B5EF4-FFF2-40B4-BE49-F238E27FC236}">
                <a16:creationId xmlns:a16="http://schemas.microsoft.com/office/drawing/2014/main" id="{EF94D43C-0BD6-4B5A-852D-93F696625953}"/>
              </a:ext>
            </a:extLst>
          </p:cNvPr>
          <p:cNvPicPr>
            <a:picLocks noGrp="1" noChangeAspect="1"/>
          </p:cNvPicPr>
          <p:nvPr>
            <p:ph idx="1"/>
          </p:nvPr>
        </p:nvPicPr>
        <p:blipFill rotWithShape="1">
          <a:blip r:embed="rId3"/>
          <a:srcRect t="565" r="3" b="6644"/>
          <a:stretch/>
        </p:blipFill>
        <p:spPr>
          <a:xfrm>
            <a:off x="6098892" y="2864747"/>
            <a:ext cx="4802404" cy="2818629"/>
          </a:xfrm>
          <a:prstGeom prst="rect">
            <a:avLst/>
          </a:prstGeom>
        </p:spPr>
      </p:pic>
    </p:spTree>
    <p:extLst>
      <p:ext uri="{BB962C8B-B14F-4D97-AF65-F5344CB8AC3E}">
        <p14:creationId xmlns:p14="http://schemas.microsoft.com/office/powerpoint/2010/main" val="3545358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958F15DC-8BDD-4D79-AEA4-8319E2931A35}"/>
              </a:ext>
            </a:extLst>
          </p:cNvPr>
          <p:cNvSpPr>
            <a:spLocks noGrp="1"/>
          </p:cNvSpPr>
          <p:nvPr>
            <p:ph type="title"/>
          </p:nvPr>
        </p:nvSpPr>
        <p:spPr>
          <a:xfrm>
            <a:off x="958506" y="800392"/>
            <a:ext cx="10264697" cy="1212102"/>
          </a:xfrm>
        </p:spPr>
        <p:txBody>
          <a:bodyPr>
            <a:normAutofit/>
          </a:bodyPr>
          <a:lstStyle/>
          <a:p>
            <a:r>
              <a:rPr lang="en-US" sz="4000">
                <a:solidFill>
                  <a:srgbClr val="FFFFFF"/>
                </a:solidFill>
              </a:rPr>
              <a:t>Run an analysis you find interesting on the wikipedia datasets we're using.</a:t>
            </a:r>
          </a:p>
        </p:txBody>
      </p:sp>
      <p:sp>
        <p:nvSpPr>
          <p:cNvPr id="3" name="Content Placeholder 2">
            <a:extLst>
              <a:ext uri="{FF2B5EF4-FFF2-40B4-BE49-F238E27FC236}">
                <a16:creationId xmlns:a16="http://schemas.microsoft.com/office/drawing/2014/main" id="{FFC501AA-3889-4DB8-9961-254905C54CFF}"/>
              </a:ext>
            </a:extLst>
          </p:cNvPr>
          <p:cNvSpPr>
            <a:spLocks noGrp="1"/>
          </p:cNvSpPr>
          <p:nvPr>
            <p:ph idx="1"/>
          </p:nvPr>
        </p:nvSpPr>
        <p:spPr>
          <a:xfrm>
            <a:off x="1367624" y="2490436"/>
            <a:ext cx="4639771" cy="3567173"/>
          </a:xfrm>
        </p:spPr>
        <p:txBody>
          <a:bodyPr anchor="ctr">
            <a:normAutofit/>
          </a:bodyPr>
          <a:lstStyle/>
          <a:p>
            <a:r>
              <a:rPr lang="en-US" sz="2400" dirty="0"/>
              <a:t>I found it interesting that people were reading </a:t>
            </a:r>
            <a:r>
              <a:rPr lang="en-US" sz="2400" dirty="0" err="1"/>
              <a:t>Big_data</a:t>
            </a:r>
            <a:r>
              <a:rPr lang="en-US" sz="2400" dirty="0"/>
              <a:t> wiki page on the day of the US presidential inauguration.</a:t>
            </a:r>
          </a:p>
        </p:txBody>
      </p:sp>
      <p:pic>
        <p:nvPicPr>
          <p:cNvPr id="19" name="Picture 18">
            <a:extLst>
              <a:ext uri="{FF2B5EF4-FFF2-40B4-BE49-F238E27FC236}">
                <a16:creationId xmlns:a16="http://schemas.microsoft.com/office/drawing/2014/main" id="{56B0C566-2DBA-41A9-A923-B53ED87A3C7F}"/>
              </a:ext>
            </a:extLst>
          </p:cNvPr>
          <p:cNvPicPr>
            <a:picLocks noChangeAspect="1"/>
          </p:cNvPicPr>
          <p:nvPr/>
        </p:nvPicPr>
        <p:blipFill>
          <a:blip r:embed="rId2"/>
          <a:stretch>
            <a:fillRect/>
          </a:stretch>
        </p:blipFill>
        <p:spPr>
          <a:xfrm>
            <a:off x="6097986" y="2543175"/>
            <a:ext cx="4467225" cy="1876425"/>
          </a:xfrm>
          <a:prstGeom prst="rect">
            <a:avLst/>
          </a:prstGeom>
        </p:spPr>
      </p:pic>
    </p:spTree>
    <p:extLst>
      <p:ext uri="{BB962C8B-B14F-4D97-AF65-F5344CB8AC3E}">
        <p14:creationId xmlns:p14="http://schemas.microsoft.com/office/powerpoint/2010/main" val="1231609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3C9A6-960A-44CC-A863-2B21C15B6496}"/>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GIT REPO</a:t>
            </a:r>
            <a:endParaRPr lang="en-US" sz="4000">
              <a:solidFill>
                <a:srgbClr val="FFFFFF"/>
              </a:solidFill>
            </a:endParaRPr>
          </a:p>
        </p:txBody>
      </p:sp>
      <p:sp>
        <p:nvSpPr>
          <p:cNvPr id="3" name="Content Placeholder 2">
            <a:extLst>
              <a:ext uri="{FF2B5EF4-FFF2-40B4-BE49-F238E27FC236}">
                <a16:creationId xmlns:a16="http://schemas.microsoft.com/office/drawing/2014/main" id="{5D144BAB-1A42-4556-9559-4AAF6DCADE98}"/>
              </a:ext>
            </a:extLst>
          </p:cNvPr>
          <p:cNvSpPr>
            <a:spLocks noGrp="1"/>
          </p:cNvSpPr>
          <p:nvPr>
            <p:ph idx="1"/>
          </p:nvPr>
        </p:nvSpPr>
        <p:spPr>
          <a:xfrm>
            <a:off x="4810259" y="649480"/>
            <a:ext cx="6555347" cy="5546047"/>
          </a:xfrm>
        </p:spPr>
        <p:txBody>
          <a:bodyPr anchor="ctr">
            <a:normAutofit/>
          </a:bodyPr>
          <a:lstStyle/>
          <a:p>
            <a:r>
              <a:rPr lang="en-US" sz="2000"/>
              <a:t>https://github.com/vanisubodh</a:t>
            </a:r>
          </a:p>
        </p:txBody>
      </p:sp>
    </p:spTree>
    <p:extLst>
      <p:ext uri="{BB962C8B-B14F-4D97-AF65-F5344CB8AC3E}">
        <p14:creationId xmlns:p14="http://schemas.microsoft.com/office/powerpoint/2010/main" val="1975634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1651</TotalTime>
  <Words>688</Words>
  <Application>Microsoft Office PowerPoint</Application>
  <PresentationFormat>Widescreen</PresentationFormat>
  <Paragraphs>43</Paragraphs>
  <Slides>10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Consolas</vt:lpstr>
      <vt:lpstr>Office Theme</vt:lpstr>
      <vt:lpstr>English Wikipedia </vt:lpstr>
      <vt:lpstr>Introduction</vt:lpstr>
      <vt:lpstr>Technology Used</vt:lpstr>
      <vt:lpstr> Q1.Which English wikipedia article got the most traffic on January 20, 2021?</vt:lpstr>
      <vt:lpstr>Q2.What English wikipedia article has the largest fraction of its readers follow an internal link to another wikipedia article?</vt:lpstr>
      <vt:lpstr>Q#3.What series of wikipedia articles, starting with  [Hotel California](https://en.wikipedia.org/wiki/Hotel_California), keeps the largest fraction of its readers clicking on internal links?  </vt:lpstr>
      <vt:lpstr>Find an example of an English wikipedia article that is relatively more popular in the Americas than elsewhere.  There is no location data associated with the wikipedia pageviews data, but there are timestamps.  You'll need to make some assumptions about internet usage over the hours of the day.</vt:lpstr>
      <vt:lpstr>Analyze how many users will see the average vandalized wikipedia page before the offending edit is reversed.</vt:lpstr>
      <vt:lpstr>Run an analysis you find interesting on the wikipedia datasets we're using.</vt:lpstr>
      <vt:lpstr>GIT REPO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Wikipedia traffic on Jan202</dc:title>
  <dc:creator>SUBODH Koparde</dc:creator>
  <cp:lastModifiedBy>SUBODH Koparde</cp:lastModifiedBy>
  <cp:revision>2</cp:revision>
  <dcterms:created xsi:type="dcterms:W3CDTF">2021-02-01T17:24:11Z</dcterms:created>
  <dcterms:modified xsi:type="dcterms:W3CDTF">2021-02-15T12:54:42Z</dcterms:modified>
</cp:coreProperties>
</file>